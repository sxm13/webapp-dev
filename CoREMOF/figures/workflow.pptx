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>
        <p:scale>
          <a:sx n="66" d="100"/>
          <a:sy n="66" d="100"/>
        </p:scale>
        <p:origin x="354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59B7B-CA11-438F-855F-836F94CB0C4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51D50-6A15-47FB-ADE7-B5BDBA68A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39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EC5D9-48D5-2B4D-B9AD-226B712F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E5259B-01DB-4B75-BEEB-D4B620C13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1FBF36-2A0B-8DC2-D0F9-7768F287C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8BADE-7C3E-507D-806E-93EF850D0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08CB-1A18-49CD-AD4D-7982E90827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31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E29D-698B-E804-15A1-D5998AF3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1DF238-B072-3B9C-4583-ED9FE8448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70175B-3BDC-B471-E8F2-91D9C6916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BE364F-E1D8-012C-98EC-AC1B0DDC4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08CB-1A18-49CD-AD4D-7982E90827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73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B6511-3E62-9AF1-985F-FAF5D19CB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E2835E-9A5A-0CA0-EFD0-304FA7DDD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8F43F8-4F27-B111-8612-5F91BD27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CEABC-0793-89D6-9E09-5E80A057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F1E5B-DB5A-4A60-A2F5-9C497A69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11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F1A1A-88F1-494B-ACB7-97429592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C2A95-F574-7E2F-F858-87F4887FC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6FF47-6FD3-CE6A-E298-44CDCB58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69D9A-A5BD-5070-8518-3B0A0242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35ACD-A832-8BBA-FA13-C5B68720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59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77DA8-D692-ECE6-96C0-B16B23DC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B8FCA5-C988-94EE-B2B1-259721B43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40E82-61F1-2756-1137-EBA1AA06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65204E-6F84-89FB-B6CD-D44A089C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074E8-0FB3-AE4B-F93A-FFC9C4F2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270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0B4A7-8654-9F01-1575-B94383E1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B366BC-BCCD-51AA-F74F-F550CC394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14FAF3-FAD6-64DC-BDFF-746D15558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4E5DD-D06A-C372-BF8E-B73A947B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E2DFAB-A12D-A0EA-B74C-86111DF0F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2AE1DB-5538-39AE-5979-5C3566B4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85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D1568-3768-A5AA-7B72-E04493F9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774CC5-F0F7-B77B-99FE-E9A85018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053528-D9EE-7E05-D724-20ABB3FB2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B19758-DD6B-89FF-D2E3-E9DBD7416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8074DA-F92B-FC35-6FAB-D04775A0F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7A3926-51BC-6ABE-52F2-F1D12EA4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AC83A0-1439-E4E4-7466-FA62BF8C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6E51BB-FFEC-187B-4408-EC147131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88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F14BF-A238-B4F6-279F-A6B912DF8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50CD1F-6452-5571-1718-AFB72222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3D9A9C-3182-E364-B998-6832E8D9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6B3316-D539-749D-13FD-3BF31CE7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1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7E9055-5A6F-F144-3C9A-9C2574E1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2D2571-BCB7-E1BC-D17E-F733DBE4F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72084-1BC1-B8DA-CE23-71D0A3DE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7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2196B-703D-51D7-F35D-7F1D3051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A19B4-5FC2-4CC2-7EC9-4F5BD54FD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DD7D35-CE68-6544-4571-5434A95C0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2D1383-7B6B-B20E-C0EE-BD242FBA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A864A9-0B95-143B-9A33-ECBC67FD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F862D8-2E6F-010C-B4AD-C8153056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51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2FC1F-0B38-1B60-8CE1-53D9D9B9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B2FA3B-E05D-42E0-0A53-304E2C35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D62317-823E-8DC6-8992-BE4CB1D3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F75C2-FA1B-D2E5-346C-757D9D98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9F5914-9607-380E-A0DD-A06113C4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E3D47D-7911-9CD4-DA0F-F1F0EFBA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58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EF65B-73A2-B377-4FEE-496A04E4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EAE7DA-9453-50E6-A7B6-4FC8A8D52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915629-F084-04AD-E0B8-5CB7E67E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C3EFE-0B93-5BA9-D94A-ACAEC5B5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AF731-7147-2544-75DE-71D331EB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99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66BC35-CCD4-BEFB-CE64-1B6F4131D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7697A0-0DF5-C9BF-3B93-2472FD41C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5533E-6C4E-35DA-398C-54D54A06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45B6C-431B-9663-E818-B84E4701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81AF6-ECE8-FDB9-2EAF-C7367035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32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B98656-68E6-24E6-6C4A-97E18ABDF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5CCDEB-B935-D837-9D5F-3D3A5B614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B61F06-034A-083F-6BF9-7400D6341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A6D45-36B2-46BA-B4E7-C95B0D0EEA95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2193F7-86C3-F088-D8AB-DB9C64A6D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26EACC-9F3B-7DC5-9981-CC98FF159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582DA-40E3-4F96-B561-6A0EDD2D8C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44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8B6C5-9792-434E-6275-7921C5FC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67ACBE9F-59F2-030D-33D3-C42C42D58940}"/>
              </a:ext>
            </a:extLst>
          </p:cNvPr>
          <p:cNvGrpSpPr/>
          <p:nvPr/>
        </p:nvGrpSpPr>
        <p:grpSpPr>
          <a:xfrm>
            <a:off x="-1237655" y="-328414"/>
            <a:ext cx="16523613" cy="7514828"/>
            <a:chOff x="-517808" y="-1901745"/>
            <a:chExt cx="16523613" cy="7514828"/>
          </a:xfrm>
        </p:grpSpPr>
        <p:sp>
          <p:nvSpPr>
            <p:cNvPr id="3" name="圆柱体 1884">
              <a:extLst>
                <a:ext uri="{FF2B5EF4-FFF2-40B4-BE49-F238E27FC236}">
                  <a16:creationId xmlns:a16="http://schemas.microsoft.com/office/drawing/2014/main" id="{58650AD7-E68E-03EC-5414-DCF46A3F04AD}"/>
                </a:ext>
              </a:extLst>
            </p:cNvPr>
            <p:cNvSpPr/>
            <p:nvPr/>
          </p:nvSpPr>
          <p:spPr>
            <a:xfrm>
              <a:off x="10914522" y="-1865978"/>
              <a:ext cx="5091283" cy="7477119"/>
            </a:xfrm>
            <a:prstGeom prst="roundRect">
              <a:avLst>
                <a:gd name="adj" fmla="val 734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" name="圆柱体 1884">
              <a:extLst>
                <a:ext uri="{FF2B5EF4-FFF2-40B4-BE49-F238E27FC236}">
                  <a16:creationId xmlns:a16="http://schemas.microsoft.com/office/drawing/2014/main" id="{71A8D098-B9F9-B442-353A-00A4B47B77D2}"/>
                </a:ext>
              </a:extLst>
            </p:cNvPr>
            <p:cNvSpPr/>
            <p:nvPr/>
          </p:nvSpPr>
          <p:spPr>
            <a:xfrm>
              <a:off x="5264331" y="-1864036"/>
              <a:ext cx="5091283" cy="7477119"/>
            </a:xfrm>
            <a:prstGeom prst="roundRect">
              <a:avLst>
                <a:gd name="adj" fmla="val 734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" name="圆柱体 1884">
              <a:extLst>
                <a:ext uri="{FF2B5EF4-FFF2-40B4-BE49-F238E27FC236}">
                  <a16:creationId xmlns:a16="http://schemas.microsoft.com/office/drawing/2014/main" id="{8ED2B220-97A9-F1EC-E499-E8DB27A72D5F}"/>
                </a:ext>
              </a:extLst>
            </p:cNvPr>
            <p:cNvSpPr/>
            <p:nvPr/>
          </p:nvSpPr>
          <p:spPr>
            <a:xfrm>
              <a:off x="-517808" y="-1901745"/>
              <a:ext cx="5091283" cy="7477119"/>
            </a:xfrm>
            <a:prstGeom prst="roundRect">
              <a:avLst>
                <a:gd name="adj" fmla="val 7345"/>
              </a:avLst>
            </a:prstGeom>
            <a:solidFill>
              <a:srgbClr val="E6F6EA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53FA5B3-9C27-3624-FB64-7C3AF5878D2C}"/>
                </a:ext>
              </a:extLst>
            </p:cNvPr>
            <p:cNvSpPr/>
            <p:nvPr/>
          </p:nvSpPr>
          <p:spPr>
            <a:xfrm>
              <a:off x="6028028" y="1734778"/>
              <a:ext cx="3103973" cy="603504"/>
            </a:xfrm>
            <a:prstGeom prst="roundRect">
              <a:avLst>
                <a:gd name="adj" fmla="val 10310"/>
              </a:avLst>
            </a:prstGeom>
            <a:solidFill>
              <a:schemeClr val="bg1">
                <a:alpha val="69020"/>
              </a:scheme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Primitive Cell &amp; Make P1 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6951FB0-D282-E1DE-BB88-88E58C70B1F4}"/>
                </a:ext>
              </a:extLst>
            </p:cNvPr>
            <p:cNvCxnSpPr>
              <a:cxnSpLocks/>
              <a:stCxn id="7" idx="2"/>
              <a:endCxn id="37" idx="0"/>
            </p:cNvCxnSpPr>
            <p:nvPr/>
          </p:nvCxnSpPr>
          <p:spPr>
            <a:xfrm>
              <a:off x="1800754" y="997882"/>
              <a:ext cx="6757" cy="711642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sp>
          <p:nvSpPr>
            <p:cNvPr id="7" name="文本框 40">
              <a:extLst>
                <a:ext uri="{FF2B5EF4-FFF2-40B4-BE49-F238E27FC236}">
                  <a16:creationId xmlns:a16="http://schemas.microsoft.com/office/drawing/2014/main" id="{0C6D3F41-C0CF-35F4-40D3-16D26C3FFD90}"/>
                </a:ext>
              </a:extLst>
            </p:cNvPr>
            <p:cNvSpPr txBox="1"/>
            <p:nvPr/>
          </p:nvSpPr>
          <p:spPr>
            <a:xfrm>
              <a:off x="260280" y="597772"/>
              <a:ext cx="30809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Digital Object Identifier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9363056-630B-831C-1E56-5D958C5ED229}"/>
                </a:ext>
              </a:extLst>
            </p:cNvPr>
            <p:cNvGrpSpPr/>
            <p:nvPr/>
          </p:nvGrpSpPr>
          <p:grpSpPr>
            <a:xfrm>
              <a:off x="440993" y="-1732399"/>
              <a:ext cx="2959461" cy="660400"/>
              <a:chOff x="-5854700" y="533401"/>
              <a:chExt cx="2959461" cy="660400"/>
            </a:xfrm>
          </p:grpSpPr>
          <p:pic>
            <p:nvPicPr>
              <p:cNvPr id="39" name="Picture 2" descr="Free Vectors | search bar">
                <a:extLst>
                  <a:ext uri="{FF2B5EF4-FFF2-40B4-BE49-F238E27FC236}">
                    <a16:creationId xmlns:a16="http://schemas.microsoft.com/office/drawing/2014/main" id="{8E9E021A-AF28-5BC7-89BF-2DF0A3B786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44" t="20613" b="20732"/>
              <a:stretch/>
            </p:blipFill>
            <p:spPr bwMode="auto">
              <a:xfrm>
                <a:off x="-5854700" y="533401"/>
                <a:ext cx="2959461" cy="660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文本框 35">
                <a:extLst>
                  <a:ext uri="{FF2B5EF4-FFF2-40B4-BE49-F238E27FC236}">
                    <a16:creationId xmlns:a16="http://schemas.microsoft.com/office/drawing/2014/main" id="{461215FD-12B9-451A-B444-8ED36452D619}"/>
                  </a:ext>
                </a:extLst>
              </p:cNvPr>
              <p:cNvSpPr txBox="1"/>
              <p:nvPr/>
            </p:nvSpPr>
            <p:spPr>
              <a:xfrm>
                <a:off x="-5518237" y="688527"/>
                <a:ext cx="20257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“MOF” or “P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O</a:t>
                </a:r>
                <a:r>
                  <a:rPr kumimoji="0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P”</a:t>
                </a:r>
                <a:endParaRPr kumimoji="0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4486CB-51C7-C577-37A5-667DA865C320}"/>
                </a:ext>
              </a:extLst>
            </p:cNvPr>
            <p:cNvGrpSpPr/>
            <p:nvPr/>
          </p:nvGrpSpPr>
          <p:grpSpPr>
            <a:xfrm>
              <a:off x="-265765" y="1709524"/>
              <a:ext cx="4146551" cy="1019772"/>
              <a:chOff x="4679212" y="-7477097"/>
              <a:chExt cx="4146551" cy="1019772"/>
            </a:xfrm>
            <a:solidFill>
              <a:schemeClr val="bg1"/>
            </a:solidFill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A05878DF-72B2-001D-2FFD-D40400ED95C0}"/>
                  </a:ext>
                </a:extLst>
              </p:cNvPr>
              <p:cNvSpPr/>
              <p:nvPr/>
            </p:nvSpPr>
            <p:spPr>
              <a:xfrm>
                <a:off x="4679212" y="-7477097"/>
                <a:ext cx="4146551" cy="1019772"/>
              </a:xfrm>
              <a:prstGeom prst="roundRect">
                <a:avLst>
                  <a:gd name="adj" fmla="val 4618"/>
                </a:avLst>
              </a:prstGeom>
              <a:grpFill/>
              <a:ln w="38100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S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upplementary </a:t>
                </a: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I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nformation</a:t>
                </a:r>
              </a:p>
            </p:txBody>
          </p:sp>
          <p:pic>
            <p:nvPicPr>
              <p:cNvPr id="38" name="图片 37" descr="形状&#10;&#10;低可信度描述已自动生成">
                <a:extLst>
                  <a:ext uri="{FF2B5EF4-FFF2-40B4-BE49-F238E27FC236}">
                    <a16:creationId xmlns:a16="http://schemas.microsoft.com/office/drawing/2014/main" id="{F197E5FB-A168-65C5-23AC-EAEB3EDB7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7912" y="-7262161"/>
                <a:ext cx="680932" cy="66184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</p:pic>
        </p:grp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AD7B07E-771E-79C2-BE56-E65CBBF69CC3}"/>
                </a:ext>
              </a:extLst>
            </p:cNvPr>
            <p:cNvSpPr/>
            <p:nvPr/>
          </p:nvSpPr>
          <p:spPr>
            <a:xfrm>
              <a:off x="-190380" y="3598944"/>
              <a:ext cx="4015029" cy="972032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ambridge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tructural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D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atabase 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B98CAB8-E4DA-0E30-FA1C-3EBACFBFCFEF}"/>
                </a:ext>
              </a:extLst>
            </p:cNvPr>
            <p:cNvSpPr/>
            <p:nvPr/>
          </p:nvSpPr>
          <p:spPr>
            <a:xfrm>
              <a:off x="6158310" y="552884"/>
              <a:ext cx="2836250" cy="603504"/>
            </a:xfrm>
            <a:prstGeom prst="roundRect">
              <a:avLst>
                <a:gd name="adj" fmla="val 10510"/>
              </a:avLst>
            </a:prstGeom>
            <a:solidFill>
              <a:schemeClr val="bg1">
                <a:alpha val="69020"/>
              </a:scheme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Check Carbon &amp; Metal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33776AF-22AB-1EA0-2BFE-41844B4035FD}"/>
                </a:ext>
              </a:extLst>
            </p:cNvPr>
            <p:cNvSpPr/>
            <p:nvPr/>
          </p:nvSpPr>
          <p:spPr>
            <a:xfrm>
              <a:off x="6147086" y="409477"/>
              <a:ext cx="2979539" cy="757730"/>
            </a:xfrm>
            <a:prstGeom prst="roundRect">
              <a:avLst/>
            </a:prstGeom>
            <a:no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22F222D-4094-F72F-A66F-02AA20188485}"/>
                </a:ext>
              </a:extLst>
            </p:cNvPr>
            <p:cNvSpPr/>
            <p:nvPr/>
          </p:nvSpPr>
          <p:spPr>
            <a:xfrm>
              <a:off x="6048052" y="1652492"/>
              <a:ext cx="3185482" cy="600990"/>
            </a:xfrm>
            <a:prstGeom prst="roundRect">
              <a:avLst/>
            </a:prstGeom>
            <a:no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C7F5AA6-4C29-E880-3BC7-695E866E7C25}"/>
                </a:ext>
              </a:extLst>
            </p:cNvPr>
            <p:cNvSpPr/>
            <p:nvPr/>
          </p:nvSpPr>
          <p:spPr>
            <a:xfrm>
              <a:off x="6265676" y="-582060"/>
              <a:ext cx="2615361" cy="580858"/>
            </a:xfrm>
            <a:prstGeom prst="roundRect">
              <a:avLst>
                <a:gd name="adj" fmla="val 8854"/>
              </a:avLst>
            </a:prstGeom>
            <a:solidFill>
              <a:schemeClr val="bg1">
                <a:alpha val="69804"/>
              </a:scheme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Multi-Structure</a:t>
              </a:r>
              <a:r>
                <a:rPr kumimoji="0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Split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307010E1-6931-20BE-079C-529956FD30ED}"/>
                </a:ext>
              </a:extLst>
            </p:cNvPr>
            <p:cNvSpPr/>
            <p:nvPr/>
          </p:nvSpPr>
          <p:spPr>
            <a:xfrm>
              <a:off x="12483673" y="-1678608"/>
              <a:ext cx="2015401" cy="481777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2D/3D Cluster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59E0603-6A47-6073-6B51-934510BE767E}"/>
                </a:ext>
              </a:extLst>
            </p:cNvPr>
            <p:cNvSpPr/>
            <p:nvPr/>
          </p:nvSpPr>
          <p:spPr>
            <a:xfrm>
              <a:off x="12483672" y="-751637"/>
              <a:ext cx="2015400" cy="513207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PLD &gt; 2.4 Å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A347AD08-F96F-6A8F-84EB-D00DC44E3651}"/>
                </a:ext>
              </a:extLst>
            </p:cNvPr>
            <p:cNvSpPr/>
            <p:nvPr/>
          </p:nvSpPr>
          <p:spPr>
            <a:xfrm>
              <a:off x="5547487" y="-1634527"/>
              <a:ext cx="4055066" cy="509416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Remove Overlapping Structures</a:t>
              </a:r>
            </a:p>
          </p:txBody>
        </p:sp>
        <p:pic>
          <p:nvPicPr>
            <p:cNvPr id="19" name="Picture 2" descr="사무실 데이터베이스 - 전자 기기 및 하드웨어 아이콘">
              <a:extLst>
                <a:ext uri="{FF2B5EF4-FFF2-40B4-BE49-F238E27FC236}">
                  <a16:creationId xmlns:a16="http://schemas.microsoft.com/office/drawing/2014/main" id="{2CF58B27-9A38-1FDE-61CD-C2868361A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32549" y="2658333"/>
              <a:ext cx="1717645" cy="171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3">
              <a:extLst>
                <a:ext uri="{FF2B5EF4-FFF2-40B4-BE49-F238E27FC236}">
                  <a16:creationId xmlns:a16="http://schemas.microsoft.com/office/drawing/2014/main" id="{93CD62AB-4063-0577-2609-514330440847}"/>
                </a:ext>
              </a:extLst>
            </p:cNvPr>
            <p:cNvSpPr/>
            <p:nvPr/>
          </p:nvSpPr>
          <p:spPr>
            <a:xfrm>
              <a:off x="11087116" y="194064"/>
              <a:ext cx="4808513" cy="1113014"/>
            </a:xfrm>
            <a:prstGeom prst="roundRect">
              <a:avLst>
                <a:gd name="adj" fmla="val 3114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Classification of Not Computation-Ready</a:t>
              </a:r>
            </a:p>
            <a:p>
              <a:pPr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A. mofchecker</a:t>
              </a:r>
              <a:endPara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B. Chen and Manz</a:t>
              </a:r>
              <a:endPara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文本框 1197">
              <a:extLst>
                <a:ext uri="{FF2B5EF4-FFF2-40B4-BE49-F238E27FC236}">
                  <a16:creationId xmlns:a16="http://schemas.microsoft.com/office/drawing/2014/main" id="{D0A962BA-4C6A-4289-D12D-D3F3614A202E}"/>
                </a:ext>
              </a:extLst>
            </p:cNvPr>
            <p:cNvSpPr txBox="1"/>
            <p:nvPr/>
          </p:nvSpPr>
          <p:spPr>
            <a:xfrm>
              <a:off x="11851148" y="4531894"/>
              <a:ext cx="33058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CoRE MOF Database</a:t>
              </a:r>
            </a:p>
          </p:txBody>
        </p:sp>
        <p:sp>
          <p:nvSpPr>
            <p:cNvPr id="22" name="矩形 2">
              <a:extLst>
                <a:ext uri="{FF2B5EF4-FFF2-40B4-BE49-F238E27FC236}">
                  <a16:creationId xmlns:a16="http://schemas.microsoft.com/office/drawing/2014/main" id="{CF6A5829-8708-5CCD-8FA5-EC550E7DB476}"/>
                </a:ext>
              </a:extLst>
            </p:cNvPr>
            <p:cNvSpPr/>
            <p:nvPr/>
          </p:nvSpPr>
          <p:spPr>
            <a:xfrm>
              <a:off x="5942355" y="2854142"/>
              <a:ext cx="3291179" cy="2461636"/>
            </a:xfrm>
            <a:prstGeom prst="roundRect">
              <a:avLst>
                <a:gd name="adj" fmla="val 2580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Structure Curation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</a:t>
              </a:r>
              <a:r>
                <a:rPr lang="en-US" altLang="zh-CN" sz="2000" kern="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. </a:t>
              </a: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All Solvent Removed</a:t>
              </a:r>
            </a:p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(ASR)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B. Free Solvent Removed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(FSR)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C. Has Free 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(Ion)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A84B2BCA-14F4-2B76-81C2-EA33E3E93EAB}"/>
                </a:ext>
              </a:extLst>
            </p:cNvPr>
            <p:cNvSpPr/>
            <p:nvPr/>
          </p:nvSpPr>
          <p:spPr>
            <a:xfrm>
              <a:off x="12380004" y="1758027"/>
              <a:ext cx="2222736" cy="513207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Occupancy = 1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6B6EA60-6A72-43ED-C915-B09943613A37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13491372" y="-1196831"/>
              <a:ext cx="2" cy="445194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BD6B70D-B17B-26A8-4FC2-159BA4CAE95E}"/>
                </a:ext>
              </a:extLst>
            </p:cNvPr>
            <p:cNvCxnSpPr>
              <a:cxnSpLocks/>
              <a:stCxn id="15" idx="2"/>
              <a:endCxn id="12" idx="0"/>
            </p:cNvCxnSpPr>
            <p:nvPr/>
          </p:nvCxnSpPr>
          <p:spPr>
            <a:xfrm>
              <a:off x="7573357" y="-1202"/>
              <a:ext cx="3078" cy="554086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headEnd w="lg" len="med"/>
              <a:tailEnd type="triangle" w="lg" len="med"/>
            </a:ln>
            <a:effectLst/>
          </p:spPr>
        </p:cxnSp>
        <p:pic>
          <p:nvPicPr>
            <p:cNvPr id="27" name="Picture 2" descr="Digital object identifier - Wikipedia">
              <a:extLst>
                <a:ext uri="{FF2B5EF4-FFF2-40B4-BE49-F238E27FC236}">
                  <a16:creationId xmlns:a16="http://schemas.microsoft.com/office/drawing/2014/main" id="{ED3A044C-F667-7DDF-8243-D6B085C1D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2958" y="-605565"/>
              <a:ext cx="1124374" cy="1124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7B4EF4E-41D5-4633-8C65-39C236E69F94}"/>
                </a:ext>
              </a:extLst>
            </p:cNvPr>
            <p:cNvCxnSpPr>
              <a:cxnSpLocks/>
              <a:stCxn id="37" idx="2"/>
              <a:endCxn id="10" idx="0"/>
            </p:cNvCxnSpPr>
            <p:nvPr/>
          </p:nvCxnSpPr>
          <p:spPr>
            <a:xfrm>
              <a:off x="1807511" y="2729296"/>
              <a:ext cx="9624" cy="86964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63D87886-01F3-FE26-D918-3F65F25EC990}"/>
                </a:ext>
              </a:extLst>
            </p:cNvPr>
            <p:cNvCxnSpPr>
              <a:cxnSpLocks/>
              <a:stCxn id="18" idx="2"/>
              <a:endCxn id="15" idx="0"/>
            </p:cNvCxnSpPr>
            <p:nvPr/>
          </p:nvCxnSpPr>
          <p:spPr>
            <a:xfrm flipH="1">
              <a:off x="7573357" y="-1125111"/>
              <a:ext cx="1663" cy="543051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45707A4-D2C9-37A6-58AF-5D96D9F670AF}"/>
                </a:ext>
              </a:extLst>
            </p:cNvPr>
            <p:cNvCxnSpPr>
              <a:cxnSpLocks/>
              <a:stCxn id="12" idx="2"/>
              <a:endCxn id="6" idx="0"/>
            </p:cNvCxnSpPr>
            <p:nvPr/>
          </p:nvCxnSpPr>
          <p:spPr>
            <a:xfrm>
              <a:off x="7576435" y="1156388"/>
              <a:ext cx="3580" cy="578390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headEnd w="lg" len="med"/>
              <a:tailEnd type="triangle" w="lg" len="med"/>
            </a:ln>
            <a:effectLst/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CBC15C3-EA6D-DE5F-B42E-E5FF54CA6642}"/>
                </a:ext>
              </a:extLst>
            </p:cNvPr>
            <p:cNvCxnSpPr>
              <a:cxnSpLocks/>
              <a:stCxn id="17" idx="2"/>
              <a:endCxn id="20" idx="0"/>
            </p:cNvCxnSpPr>
            <p:nvPr/>
          </p:nvCxnSpPr>
          <p:spPr>
            <a:xfrm>
              <a:off x="13491372" y="-238430"/>
              <a:ext cx="1" cy="432494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30C21420-EF18-0E0C-EC01-F2DD0F760657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flipH="1">
              <a:off x="13491372" y="1307078"/>
              <a:ext cx="1" cy="450949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ECF92077-3382-C73D-FBF8-1FC8CD932794}"/>
                </a:ext>
              </a:extLst>
            </p:cNvPr>
            <p:cNvCxnSpPr>
              <a:cxnSpLocks/>
              <a:stCxn id="23" idx="2"/>
              <a:endCxn id="19" idx="0"/>
            </p:cNvCxnSpPr>
            <p:nvPr/>
          </p:nvCxnSpPr>
          <p:spPr>
            <a:xfrm>
              <a:off x="13491372" y="2271234"/>
              <a:ext cx="0" cy="387099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54FEA954-F94F-A443-36E1-475BB1436982}"/>
                </a:ext>
              </a:extLst>
            </p:cNvPr>
            <p:cNvCxnSpPr>
              <a:cxnSpLocks/>
              <a:stCxn id="6" idx="2"/>
              <a:endCxn id="22" idx="0"/>
            </p:cNvCxnSpPr>
            <p:nvPr/>
          </p:nvCxnSpPr>
          <p:spPr>
            <a:xfrm>
              <a:off x="7580015" y="2338282"/>
              <a:ext cx="7930" cy="515860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headEnd w="lg" len="med"/>
              <a:tailEnd type="triangle" w="lg" len="med"/>
            </a:ln>
            <a:effectLst/>
          </p:spPr>
        </p:cxnSp>
        <p:sp>
          <p:nvSpPr>
            <p:cNvPr id="26" name="文本框 40">
              <a:extLst>
                <a:ext uri="{FF2B5EF4-FFF2-40B4-BE49-F238E27FC236}">
                  <a16:creationId xmlns:a16="http://schemas.microsoft.com/office/drawing/2014/main" id="{0B8D578F-238A-859A-4FDE-B72F2EAFFC68}"/>
                </a:ext>
              </a:extLst>
            </p:cNvPr>
            <p:cNvSpPr txBox="1"/>
            <p:nvPr/>
          </p:nvSpPr>
          <p:spPr>
            <a:xfrm>
              <a:off x="400248" y="-1077556"/>
              <a:ext cx="30809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Web of Science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858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EBDF-6AA3-BAD3-A6D2-599BE6FA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A532CEF6-13BF-6782-DBC2-33F4667368D5}"/>
              </a:ext>
            </a:extLst>
          </p:cNvPr>
          <p:cNvGrpSpPr/>
          <p:nvPr/>
        </p:nvGrpSpPr>
        <p:grpSpPr>
          <a:xfrm>
            <a:off x="-1524210" y="-618379"/>
            <a:ext cx="15611211" cy="2007714"/>
            <a:chOff x="149490" y="-5337807"/>
            <a:chExt cx="15611211" cy="2007714"/>
          </a:xfrm>
        </p:grpSpPr>
        <p:sp>
          <p:nvSpPr>
            <p:cNvPr id="5" name="圆柱体 1884">
              <a:extLst>
                <a:ext uri="{FF2B5EF4-FFF2-40B4-BE49-F238E27FC236}">
                  <a16:creationId xmlns:a16="http://schemas.microsoft.com/office/drawing/2014/main" id="{6A5D8BF1-36CD-6A55-CA1C-760570AE3A14}"/>
                </a:ext>
              </a:extLst>
            </p:cNvPr>
            <p:cNvSpPr/>
            <p:nvPr/>
          </p:nvSpPr>
          <p:spPr>
            <a:xfrm>
              <a:off x="149491" y="-5337807"/>
              <a:ext cx="15611210" cy="2007714"/>
            </a:xfrm>
            <a:prstGeom prst="roundRect">
              <a:avLst>
                <a:gd name="adj" fmla="val 7345"/>
              </a:avLst>
            </a:prstGeom>
            <a:solidFill>
              <a:srgbClr val="E6F6EA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E4724CD-9DFB-3BFB-3453-3BAE60A691E3}"/>
                </a:ext>
              </a:extLst>
            </p:cNvPr>
            <p:cNvCxnSpPr>
              <a:cxnSpLocks/>
              <a:stCxn id="39" idx="3"/>
              <a:endCxn id="27" idx="1"/>
            </p:cNvCxnSpPr>
            <p:nvPr/>
          </p:nvCxnSpPr>
          <p:spPr>
            <a:xfrm>
              <a:off x="3149696" y="-4609662"/>
              <a:ext cx="711933" cy="1566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sp>
          <p:nvSpPr>
            <p:cNvPr id="7" name="文本框 40">
              <a:extLst>
                <a:ext uri="{FF2B5EF4-FFF2-40B4-BE49-F238E27FC236}">
                  <a16:creationId xmlns:a16="http://schemas.microsoft.com/office/drawing/2014/main" id="{C52264E2-E5E9-8CF7-6F62-5F5637E4E38E}"/>
                </a:ext>
              </a:extLst>
            </p:cNvPr>
            <p:cNvSpPr txBox="1"/>
            <p:nvPr/>
          </p:nvSpPr>
          <p:spPr>
            <a:xfrm>
              <a:off x="2998222" y="-3961109"/>
              <a:ext cx="30809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Digital Object Identifier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E61BBDA-1A6B-EC1C-D7F4-8D5900FCF9DC}"/>
                </a:ext>
              </a:extLst>
            </p:cNvPr>
            <p:cNvGrpSpPr/>
            <p:nvPr/>
          </p:nvGrpSpPr>
          <p:grpSpPr>
            <a:xfrm>
              <a:off x="190235" y="-4939862"/>
              <a:ext cx="2959461" cy="660400"/>
              <a:chOff x="-5854700" y="533401"/>
              <a:chExt cx="2959461" cy="660400"/>
            </a:xfrm>
          </p:grpSpPr>
          <p:pic>
            <p:nvPicPr>
              <p:cNvPr id="39" name="Picture 2" descr="Free Vectors | search bar">
                <a:extLst>
                  <a:ext uri="{FF2B5EF4-FFF2-40B4-BE49-F238E27FC236}">
                    <a16:creationId xmlns:a16="http://schemas.microsoft.com/office/drawing/2014/main" id="{9C1AC867-FE6C-17A3-504A-7366808CE9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944" t="20613" b="20732"/>
              <a:stretch/>
            </p:blipFill>
            <p:spPr bwMode="auto">
              <a:xfrm>
                <a:off x="-5854700" y="533401"/>
                <a:ext cx="2959461" cy="660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文本框 35">
                <a:extLst>
                  <a:ext uri="{FF2B5EF4-FFF2-40B4-BE49-F238E27FC236}">
                    <a16:creationId xmlns:a16="http://schemas.microsoft.com/office/drawing/2014/main" id="{8F20451C-3B45-5ACF-8366-0F6F27D88E2B}"/>
                  </a:ext>
                </a:extLst>
              </p:cNvPr>
              <p:cNvSpPr txBox="1"/>
              <p:nvPr/>
            </p:nvSpPr>
            <p:spPr>
              <a:xfrm>
                <a:off x="-5518237" y="688527"/>
                <a:ext cx="20257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“MOF” or “P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Arial" panose="020B0604020202020204"/>
                    <a:ea typeface="黑体" panose="02010609060101010101" pitchFamily="49" charset="-122"/>
                  </a:rPr>
                  <a:t>O</a:t>
                </a:r>
                <a:r>
                  <a:rPr kumimoji="0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P”</a:t>
                </a:r>
                <a:endParaRPr kumimoji="0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C14A02C-DD73-00A5-60BE-E9B0B255A4E0}"/>
                </a:ext>
              </a:extLst>
            </p:cNvPr>
            <p:cNvGrpSpPr/>
            <p:nvPr/>
          </p:nvGrpSpPr>
          <p:grpSpPr>
            <a:xfrm>
              <a:off x="6421225" y="-5120581"/>
              <a:ext cx="4146551" cy="1019772"/>
              <a:chOff x="4679212" y="-7477097"/>
              <a:chExt cx="4146551" cy="1019772"/>
            </a:xfrm>
            <a:solidFill>
              <a:schemeClr val="bg1"/>
            </a:solidFill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8F047A3A-4D24-DD65-E53E-E55233ABCCD4}"/>
                  </a:ext>
                </a:extLst>
              </p:cNvPr>
              <p:cNvSpPr/>
              <p:nvPr/>
            </p:nvSpPr>
            <p:spPr>
              <a:xfrm>
                <a:off x="4679212" y="-7477097"/>
                <a:ext cx="4146551" cy="1019772"/>
              </a:xfrm>
              <a:prstGeom prst="roundRect">
                <a:avLst>
                  <a:gd name="adj" fmla="val 4618"/>
                </a:avLst>
              </a:prstGeom>
              <a:grpFill/>
              <a:ln w="38100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S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upplementary </a:t>
                </a: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I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nformation</a:t>
                </a:r>
              </a:p>
            </p:txBody>
          </p:sp>
          <p:pic>
            <p:nvPicPr>
              <p:cNvPr id="38" name="图片 37" descr="形状&#10;&#10;低可信度描述已自动生成">
                <a:extLst>
                  <a:ext uri="{FF2B5EF4-FFF2-40B4-BE49-F238E27FC236}">
                    <a16:creationId xmlns:a16="http://schemas.microsoft.com/office/drawing/2014/main" id="{B407151B-C544-A457-4994-EA45B4D39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7912" y="-7262161"/>
                <a:ext cx="680932" cy="66184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</p:pic>
        </p:grp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5D69C89-28D7-DAE5-957D-2C609F3FD22A}"/>
                </a:ext>
              </a:extLst>
            </p:cNvPr>
            <p:cNvSpPr/>
            <p:nvPr/>
          </p:nvSpPr>
          <p:spPr>
            <a:xfrm>
              <a:off x="11363982" y="-5096711"/>
              <a:ext cx="4015029" cy="972032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ambridge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tructural 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D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atabase 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pic>
          <p:nvPicPr>
            <p:cNvPr id="27" name="Picture 2" descr="Digital object identifier - Wikipedia">
              <a:extLst>
                <a:ext uri="{FF2B5EF4-FFF2-40B4-BE49-F238E27FC236}">
                  <a16:creationId xmlns:a16="http://schemas.microsoft.com/office/drawing/2014/main" id="{28F710F4-BD5C-572D-9F77-246EAD5B51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1629" y="-5170283"/>
              <a:ext cx="1124374" cy="1124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AD62DB6-0119-320B-371C-382A9949BBB0}"/>
                </a:ext>
              </a:extLst>
            </p:cNvPr>
            <p:cNvCxnSpPr>
              <a:cxnSpLocks/>
              <a:stCxn id="27" idx="3"/>
              <a:endCxn id="37" idx="1"/>
            </p:cNvCxnSpPr>
            <p:nvPr/>
          </p:nvCxnSpPr>
          <p:spPr>
            <a:xfrm flipV="1">
              <a:off x="4986003" y="-4610695"/>
              <a:ext cx="1435222" cy="2599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sp>
          <p:nvSpPr>
            <p:cNvPr id="26" name="文本框 40">
              <a:extLst>
                <a:ext uri="{FF2B5EF4-FFF2-40B4-BE49-F238E27FC236}">
                  <a16:creationId xmlns:a16="http://schemas.microsoft.com/office/drawing/2014/main" id="{DCE79469-FB20-9C9E-3735-73D23CC49D69}"/>
                </a:ext>
              </a:extLst>
            </p:cNvPr>
            <p:cNvSpPr txBox="1"/>
            <p:nvPr/>
          </p:nvSpPr>
          <p:spPr>
            <a:xfrm>
              <a:off x="149490" y="-4285019"/>
              <a:ext cx="30809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Web of Science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93627C4A-38C7-B793-CB9B-D2DD4E2877FD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10567776" y="-4610695"/>
              <a:ext cx="796206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FCC068B1-AD8E-42A3-1E9B-C9974E8923F3}"/>
              </a:ext>
            </a:extLst>
          </p:cNvPr>
          <p:cNvGrpSpPr/>
          <p:nvPr/>
        </p:nvGrpSpPr>
        <p:grpSpPr>
          <a:xfrm>
            <a:off x="-1483465" y="5188324"/>
            <a:ext cx="15611210" cy="2247151"/>
            <a:chOff x="-1269572" y="3645650"/>
            <a:chExt cx="15611210" cy="2247151"/>
          </a:xfrm>
        </p:grpSpPr>
        <p:sp>
          <p:nvSpPr>
            <p:cNvPr id="3" name="圆柱体 1884">
              <a:extLst>
                <a:ext uri="{FF2B5EF4-FFF2-40B4-BE49-F238E27FC236}">
                  <a16:creationId xmlns:a16="http://schemas.microsoft.com/office/drawing/2014/main" id="{5E35A281-975B-B549-3C39-6FC49882355F}"/>
                </a:ext>
              </a:extLst>
            </p:cNvPr>
            <p:cNvSpPr/>
            <p:nvPr/>
          </p:nvSpPr>
          <p:spPr>
            <a:xfrm>
              <a:off x="-1269572" y="3645651"/>
              <a:ext cx="15611210" cy="2247150"/>
            </a:xfrm>
            <a:prstGeom prst="roundRect">
              <a:avLst>
                <a:gd name="adj" fmla="val 1599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674FF00-A453-2A8B-D7A8-70B0860F8C1A}"/>
                </a:ext>
              </a:extLst>
            </p:cNvPr>
            <p:cNvSpPr/>
            <p:nvPr/>
          </p:nvSpPr>
          <p:spPr>
            <a:xfrm>
              <a:off x="-1119249" y="4267986"/>
              <a:ext cx="2015401" cy="481777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2D/3D Cluster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3433A40-2489-5340-DDE0-F475D35E300D}"/>
                </a:ext>
              </a:extLst>
            </p:cNvPr>
            <p:cNvSpPr/>
            <p:nvPr/>
          </p:nvSpPr>
          <p:spPr>
            <a:xfrm>
              <a:off x="1384750" y="4255562"/>
              <a:ext cx="2015400" cy="513207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PLD &gt; 2.4 Å</a:t>
              </a:r>
            </a:p>
          </p:txBody>
        </p:sp>
        <p:pic>
          <p:nvPicPr>
            <p:cNvPr id="19" name="Picture 2" descr="사무실 데이터베이스 - 전자 기기 및 하드웨어 아이콘">
              <a:extLst>
                <a:ext uri="{FF2B5EF4-FFF2-40B4-BE49-F238E27FC236}">
                  <a16:creationId xmlns:a16="http://schemas.microsoft.com/office/drawing/2014/main" id="{04D887F2-1F24-D945-4251-27C1A14106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92893" y="3645650"/>
              <a:ext cx="1717645" cy="171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3">
              <a:extLst>
                <a:ext uri="{FF2B5EF4-FFF2-40B4-BE49-F238E27FC236}">
                  <a16:creationId xmlns:a16="http://schemas.microsoft.com/office/drawing/2014/main" id="{85AC2BDC-EBA6-842D-1050-6DA6181D1253}"/>
                </a:ext>
              </a:extLst>
            </p:cNvPr>
            <p:cNvSpPr/>
            <p:nvPr/>
          </p:nvSpPr>
          <p:spPr>
            <a:xfrm>
              <a:off x="3790556" y="3955658"/>
              <a:ext cx="4808513" cy="1113014"/>
            </a:xfrm>
            <a:prstGeom prst="roundRect">
              <a:avLst>
                <a:gd name="adj" fmla="val 3114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Classification of Not Computation-Ready</a:t>
              </a:r>
            </a:p>
            <a:p>
              <a:pPr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A. mofchecker</a:t>
              </a:r>
              <a:endPara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B. Chen and Manz</a:t>
              </a:r>
              <a:endPara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文本框 1197">
              <a:extLst>
                <a:ext uri="{FF2B5EF4-FFF2-40B4-BE49-F238E27FC236}">
                  <a16:creationId xmlns:a16="http://schemas.microsoft.com/office/drawing/2014/main" id="{43FE53AC-C95E-94C4-FEB7-9AB46DB1AE8E}"/>
                </a:ext>
              </a:extLst>
            </p:cNvPr>
            <p:cNvSpPr txBox="1"/>
            <p:nvPr/>
          </p:nvSpPr>
          <p:spPr>
            <a:xfrm>
              <a:off x="11035790" y="5260764"/>
              <a:ext cx="33058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CoRE MOF Database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71960CA-D6ED-334A-CFC1-921BB553A626}"/>
                </a:ext>
              </a:extLst>
            </p:cNvPr>
            <p:cNvSpPr/>
            <p:nvPr/>
          </p:nvSpPr>
          <p:spPr>
            <a:xfrm>
              <a:off x="8969649" y="4251534"/>
              <a:ext cx="2222736" cy="513207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Occupancy = 1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F25C0A3-2F77-2C69-6559-A3A1F6E2B54D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896152" y="4508875"/>
              <a:ext cx="488598" cy="3291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4D43591-FDAB-5FA3-6628-2DF9B703A78C}"/>
                </a:ext>
              </a:extLst>
            </p:cNvPr>
            <p:cNvCxnSpPr>
              <a:cxnSpLocks/>
              <a:stCxn id="17" idx="3"/>
              <a:endCxn id="20" idx="1"/>
            </p:cNvCxnSpPr>
            <p:nvPr/>
          </p:nvCxnSpPr>
          <p:spPr>
            <a:xfrm flipV="1">
              <a:off x="3400150" y="4512165"/>
              <a:ext cx="390406" cy="1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1A787BA-CB08-A6EB-AACE-0D04EDB31743}"/>
                </a:ext>
              </a:extLst>
            </p:cNvPr>
            <p:cNvCxnSpPr>
              <a:cxnSpLocks/>
              <a:stCxn id="20" idx="3"/>
              <a:endCxn id="23" idx="1"/>
            </p:cNvCxnSpPr>
            <p:nvPr/>
          </p:nvCxnSpPr>
          <p:spPr>
            <a:xfrm flipV="1">
              <a:off x="8599069" y="4508138"/>
              <a:ext cx="370580" cy="4027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7646821D-1E9B-9064-BE05-F323A86C0D97}"/>
                </a:ext>
              </a:extLst>
            </p:cNvPr>
            <p:cNvCxnSpPr>
              <a:cxnSpLocks/>
              <a:stCxn id="23" idx="3"/>
              <a:endCxn id="19" idx="1"/>
            </p:cNvCxnSpPr>
            <p:nvPr/>
          </p:nvCxnSpPr>
          <p:spPr>
            <a:xfrm flipV="1">
              <a:off x="11192385" y="4504473"/>
              <a:ext cx="700508" cy="3665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0A726EE-6532-8469-21C1-2CB31AF94B84}"/>
              </a:ext>
            </a:extLst>
          </p:cNvPr>
          <p:cNvGrpSpPr/>
          <p:nvPr/>
        </p:nvGrpSpPr>
        <p:grpSpPr>
          <a:xfrm>
            <a:off x="-3360812" y="2011670"/>
            <a:ext cx="19550506" cy="1766873"/>
            <a:chOff x="-1147002" y="1604271"/>
            <a:chExt cx="19550506" cy="1766873"/>
          </a:xfrm>
        </p:grpSpPr>
        <p:sp>
          <p:nvSpPr>
            <p:cNvPr id="4" name="圆柱体 1884">
              <a:extLst>
                <a:ext uri="{FF2B5EF4-FFF2-40B4-BE49-F238E27FC236}">
                  <a16:creationId xmlns:a16="http://schemas.microsoft.com/office/drawing/2014/main" id="{AE5771FA-E125-3EEC-E8D2-84CFAFE11723}"/>
                </a:ext>
              </a:extLst>
            </p:cNvPr>
            <p:cNvSpPr/>
            <p:nvPr/>
          </p:nvSpPr>
          <p:spPr>
            <a:xfrm>
              <a:off x="-1147002" y="1604271"/>
              <a:ext cx="19550506" cy="1766873"/>
            </a:xfrm>
            <a:prstGeom prst="roundRect">
              <a:avLst>
                <a:gd name="adj" fmla="val 309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44ED41B-708A-93A7-B603-0F0DCA83729E}"/>
                </a:ext>
              </a:extLst>
            </p:cNvPr>
            <p:cNvSpPr/>
            <p:nvPr/>
          </p:nvSpPr>
          <p:spPr>
            <a:xfrm>
              <a:off x="10486665" y="2132552"/>
              <a:ext cx="3103973" cy="603504"/>
            </a:xfrm>
            <a:prstGeom prst="roundRect">
              <a:avLst>
                <a:gd name="adj" fmla="val 10310"/>
              </a:avLst>
            </a:prstGeom>
            <a:solidFill>
              <a:schemeClr val="bg1">
                <a:alpha val="69020"/>
              </a:scheme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Primitive Cell &amp; Make P1 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7457FFF-1B62-9B05-D0DD-9F1D2CE84A4E}"/>
                </a:ext>
              </a:extLst>
            </p:cNvPr>
            <p:cNvSpPr/>
            <p:nvPr/>
          </p:nvSpPr>
          <p:spPr>
            <a:xfrm>
              <a:off x="6892113" y="2134048"/>
              <a:ext cx="2836250" cy="603504"/>
            </a:xfrm>
            <a:prstGeom prst="roundRect">
              <a:avLst>
                <a:gd name="adj" fmla="val 10510"/>
              </a:avLst>
            </a:prstGeom>
            <a:solidFill>
              <a:schemeClr val="bg1">
                <a:alpha val="69020"/>
              </a:scheme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Check Carbon &amp; Metal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AA30C5-D740-F169-5F42-0B48C829FE70}"/>
                </a:ext>
              </a:extLst>
            </p:cNvPr>
            <p:cNvSpPr/>
            <p:nvPr/>
          </p:nvSpPr>
          <p:spPr>
            <a:xfrm>
              <a:off x="3575928" y="2140083"/>
              <a:ext cx="2615361" cy="580858"/>
            </a:xfrm>
            <a:prstGeom prst="roundRect">
              <a:avLst>
                <a:gd name="adj" fmla="val 8854"/>
              </a:avLst>
            </a:prstGeom>
            <a:solidFill>
              <a:schemeClr val="bg1">
                <a:alpha val="69804"/>
              </a:scheme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Multi-Structure</a:t>
              </a:r>
              <a:r>
                <a:rPr kumimoji="0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Split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20A9328-3C9C-BEA5-086D-EB12E85569BE}"/>
                </a:ext>
              </a:extLst>
            </p:cNvPr>
            <p:cNvSpPr/>
            <p:nvPr/>
          </p:nvSpPr>
          <p:spPr>
            <a:xfrm>
              <a:off x="-1007947" y="2164917"/>
              <a:ext cx="3828594" cy="509416"/>
            </a:xfrm>
            <a:prstGeom prst="roundRect">
              <a:avLst>
                <a:gd name="adj" fmla="val 4618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Remove Overlapping Structures</a:t>
              </a:r>
            </a:p>
          </p:txBody>
        </p:sp>
        <p:sp>
          <p:nvSpPr>
            <p:cNvPr id="22" name="矩形 2">
              <a:extLst>
                <a:ext uri="{FF2B5EF4-FFF2-40B4-BE49-F238E27FC236}">
                  <a16:creationId xmlns:a16="http://schemas.microsoft.com/office/drawing/2014/main" id="{8A631D56-BB06-ECE5-89EB-5C122519ADEC}"/>
                </a:ext>
              </a:extLst>
            </p:cNvPr>
            <p:cNvSpPr/>
            <p:nvPr/>
          </p:nvSpPr>
          <p:spPr>
            <a:xfrm>
              <a:off x="14312238" y="1758347"/>
              <a:ext cx="3849190" cy="1344329"/>
            </a:xfrm>
            <a:prstGeom prst="roundRect">
              <a:avLst>
                <a:gd name="adj" fmla="val 2580"/>
              </a:avLst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Structure Curation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A</a:t>
              </a: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. All Solvent Removed (ASR)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B</a:t>
              </a: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. Free Solvent Removed </a:t>
              </a:r>
              <a:r>
                <a:rPr lang="en-US" altLang="zh-CN" sz="2000" kern="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(FSR)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C</a:t>
              </a:r>
              <a:r>
                <a:rPr kumimoji="0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. Has Free Ions </a:t>
              </a:r>
              <a:r>
                <a:rPr lang="en-US" altLang="zh-CN" sz="2000" kern="0" dirty="0">
                  <a:solidFill>
                    <a:srgbClr val="000000"/>
                  </a:solidFill>
                  <a:latin typeface="Arial" panose="020B0604020202020204"/>
                  <a:ea typeface="黑体" panose="02010609060101010101" pitchFamily="49" charset="-122"/>
                </a:rPr>
                <a:t>(Ion)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61AD4E7-82BB-1FB2-F44C-B5436F51761B}"/>
                </a:ext>
              </a:extLst>
            </p:cNvPr>
            <p:cNvCxnSpPr>
              <a:cxnSpLocks/>
              <a:stCxn id="15" idx="3"/>
              <a:endCxn id="12" idx="1"/>
            </p:cNvCxnSpPr>
            <p:nvPr/>
          </p:nvCxnSpPr>
          <p:spPr>
            <a:xfrm>
              <a:off x="6191289" y="2430512"/>
              <a:ext cx="700824" cy="52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headEnd w="lg" len="med"/>
              <a:tailEnd type="triangle" w="lg" len="med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D56079F5-6028-DB99-4407-723AE7259A91}"/>
                </a:ext>
              </a:extLst>
            </p:cNvPr>
            <p:cNvCxnSpPr>
              <a:cxnSpLocks/>
              <a:stCxn id="18" idx="3"/>
              <a:endCxn id="15" idx="1"/>
            </p:cNvCxnSpPr>
            <p:nvPr/>
          </p:nvCxnSpPr>
          <p:spPr>
            <a:xfrm>
              <a:off x="2820647" y="2419625"/>
              <a:ext cx="755281" cy="10887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tailEnd type="triangle" w="lg" len="med"/>
            </a:ln>
            <a:effectLst/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C742915-1372-A058-E5A1-ED75CCC59239}"/>
                </a:ext>
              </a:extLst>
            </p:cNvPr>
            <p:cNvCxnSpPr>
              <a:cxnSpLocks/>
              <a:stCxn id="12" idx="3"/>
              <a:endCxn id="6" idx="1"/>
            </p:cNvCxnSpPr>
            <p:nvPr/>
          </p:nvCxnSpPr>
          <p:spPr>
            <a:xfrm flipV="1">
              <a:off x="9728363" y="2434304"/>
              <a:ext cx="758302" cy="1496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headEnd w="lg" len="med"/>
              <a:tailEnd type="triangle" w="lg" len="med"/>
            </a:ln>
            <a:effectLst/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F18ABEFE-CFFD-FCF3-9E27-1F02F2D011D6}"/>
                </a:ext>
              </a:extLst>
            </p:cNvPr>
            <p:cNvCxnSpPr>
              <a:cxnSpLocks/>
              <a:stCxn id="6" idx="3"/>
              <a:endCxn id="22" idx="1"/>
            </p:cNvCxnSpPr>
            <p:nvPr/>
          </p:nvCxnSpPr>
          <p:spPr>
            <a:xfrm flipV="1">
              <a:off x="13590638" y="2430512"/>
              <a:ext cx="721600" cy="3792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  <a:headEnd w="lg" len="med"/>
              <a:tailEnd type="triangle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493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170</Words>
  <Application>Microsoft Office PowerPoint</Application>
  <PresentationFormat>宽屏</PresentationFormat>
  <Paragraphs>45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沈小墨</dc:creator>
  <cp:lastModifiedBy>沈小墨</cp:lastModifiedBy>
  <cp:revision>5</cp:revision>
  <dcterms:created xsi:type="dcterms:W3CDTF">2025-02-21T05:45:50Z</dcterms:created>
  <dcterms:modified xsi:type="dcterms:W3CDTF">2025-03-01T10:09:48Z</dcterms:modified>
</cp:coreProperties>
</file>